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9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73552"/>
            <a:ext cx="12188952" cy="3584448"/>
          </a:xfrm>
          <a:prstGeom prst="rect">
            <a:avLst/>
          </a:prstGeom>
          <a:solidFill>
            <a:srgbClr val="16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Predicting Car Crash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DD7EE"/>
                </a:solidFill>
              </a:rPr>
              <a:t>A Data Mining Analysis of California Traffic Incidents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Course: Data Mining  |  Instructor: Dr. Leida 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Keaton Kaess   ·   Tyler Wolf Williams   ·   Sahil Bains   ·   Will Doran   ·   Alex Piavis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March 13,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566160" cy="1417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5661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3167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1673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Business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691639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Why does this analysis matter?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280160"/>
            <a:ext cx="3566160" cy="1417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0" y="1280160"/>
            <a:ext cx="35661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13167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31673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Understanding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8" y="1691639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112,660 California crash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1280160"/>
            <a:ext cx="3566160" cy="1417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26679" y="1280160"/>
            <a:ext cx="35661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19" y="13167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31673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7" y="1691639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From 11 features to 98 binary columns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80360"/>
            <a:ext cx="3566160" cy="1417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880360"/>
            <a:ext cx="35661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" y="2916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91693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3291840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Decision Tree · Logistic Regression · Naive Bayes · KNN · K-Means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2880360"/>
            <a:ext cx="3566160" cy="1417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023360" y="2880360"/>
            <a:ext cx="35661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0" y="2916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291693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Evaluation &amp;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3291840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Model comparison &amp; key metrics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2880360"/>
            <a:ext cx="3566160" cy="1417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26679" y="2880360"/>
            <a:ext cx="35661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19" y="2916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91693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7" y="3291840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Actionable next steps for stakeholders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Why does crash severity prediction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5394960" cy="516636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57C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Every year, California traffic crashes result in thousands of fatalities, strain emergency services, drive up insurance costs, and damage public infrastructure.
Understanding what separates a minor fender-bender from a life-threatening collision has direct implications for resource allocation and policy design.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57C"/>
                </a:solidFill>
              </a:rPr>
              <a:t>Stakeholders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▸ State transportation agencies (reduce fatalities)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Insurance companies (model risk)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Emergency dispatchers (prioritize response)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Municipal planners (safer road design)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2344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57C"/>
                </a:solidFill>
              </a:rPr>
              <a:t>Core Business Questions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83080"/>
            <a:ext cx="5760720" cy="1188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1783080"/>
            <a:ext cx="91440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213055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0116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What factors most strongly predict severe crash outcomes?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200400"/>
            <a:ext cx="5760720" cy="1188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3200400"/>
            <a:ext cx="91440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354787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4290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Are there distinct crash risk profiles in the data?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617720"/>
            <a:ext cx="5760720" cy="1188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35040" y="4617720"/>
            <a:ext cx="91440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496519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463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How reliably can severity be predicted from available features?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112,660 California crash records · 11 original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240280" cy="1051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22402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1271016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618488"/>
            <a:ext cx="2093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112,660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234440"/>
            <a:ext cx="2240280" cy="1051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97480" y="1234440"/>
            <a:ext cx="22402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0632" y="1271016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1618488"/>
            <a:ext cx="2093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11 original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234440"/>
            <a:ext cx="2240280" cy="1051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74920" y="1234440"/>
            <a:ext cx="22402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48072" y="1271016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1618488"/>
            <a:ext cx="2093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Severity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1234440"/>
            <a:ext cx="2240280" cy="1051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60" y="1234440"/>
            <a:ext cx="22402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25512" y="1271016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Minor (0)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4" y="1618488"/>
            <a:ext cx="2240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2E75B6"/>
                </a:solidFill>
              </a:rPr>
              <a:t>93%  ·  104,474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1234440"/>
            <a:ext cx="2240280" cy="1051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29800" y="1234440"/>
            <a:ext cx="22402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02952" y="1271016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Severe (1)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1618488"/>
            <a:ext cx="2093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7%  ·  8,186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468880"/>
            <a:ext cx="2011680" cy="347472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59" y="25054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2468880"/>
            <a:ext cx="1554480" cy="347472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23160" y="2505456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7639" y="2468880"/>
            <a:ext cx="5943600" cy="347472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3359" y="2505456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816352"/>
            <a:ext cx="20116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4" y="28529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County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2816352"/>
            <a:ext cx="15544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32304" y="2852928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Categorical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7639" y="2816352"/>
            <a:ext cx="594360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32503" y="285292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CA county of occurrence (57 counties)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63824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4904" y="32004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Weekday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77440" y="3163824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32304" y="3200400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Ordinal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7639" y="3163824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32503" y="320040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Day of week (1=Mon … 7=Sun)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511296"/>
            <a:ext cx="20116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4904" y="35478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57C"/>
                </a:solidFill>
              </a:rPr>
              <a:t>Severity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3511296"/>
            <a:ext cx="15544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32304" y="354787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Binary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77639" y="3511296"/>
            <a:ext cx="594360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32503" y="354787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Target: 0=Minor, 1=Severe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858768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4904" y="38953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ViolCat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3858768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432304" y="3895344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Categorical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77639" y="3858768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32503" y="3895344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Violation category (11 codes)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206240"/>
            <a:ext cx="20116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4904" y="42428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ClearWeather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77440" y="4206240"/>
            <a:ext cx="15544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432304" y="4242816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Binary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77639" y="4206240"/>
            <a:ext cx="594360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032503" y="4242816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 if weather was clear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553712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4904" y="45902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Month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77440" y="4553712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32304" y="4590288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Ordinal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77639" y="4553712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032503" y="459028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Month of occurrence (1–12)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4901184"/>
            <a:ext cx="20116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74904" y="49377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CrashType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77440" y="4901184"/>
            <a:ext cx="15544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32304" y="4937760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Categorical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77639" y="4901184"/>
            <a:ext cx="594360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032503" y="493776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Crash type A–G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5248656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74904" y="52852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Highway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77440" y="5248656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432304" y="528523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Binary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77639" y="5248656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032503" y="52852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 if on a highway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5596128"/>
            <a:ext cx="20116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74904" y="56327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Daylight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77440" y="5596128"/>
            <a:ext cx="155448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432304" y="5632704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Binary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77639" y="5596128"/>
            <a:ext cx="5943600" cy="34747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032503" y="5632704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 if during daylight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 Imbalance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93% minor vs 7% severe — why accuracy alone is misleading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0515600" cy="5486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9779508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36708" y="1325880"/>
            <a:ext cx="73609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389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Minor (93%)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3898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Severe 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The 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A naive classifier that always predicts 'Minor' achieves 93% accuracy — yet is completely useless. It would miss every life-threatening crash.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44"/>
                </a:solidFill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We prioritise AUC-ROC, F1-score, and severe-class recall over raw accuracy. Minority class upsampling (Decision Tree) and balanced class priors (Naive Bayes, Logistic Regression) were applied to counteract the imbalance.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057400"/>
            <a:ext cx="54864" cy="41148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04040"/>
                </a:solidFill>
              </a:rPr>
              <a:t>▸ Minor crashes: 104,474 records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▸ Severe crashes:    8,186 records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▸ Imbalance ratio:   ~13 :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04040"/>
                </a:solidFill>
              </a:rPr>
              <a:t>▸ AUC-ROC &gt; accuracy for evaluation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▸ F1-score balances precision &amp; recall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▸ Severe-class recall = critical metric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Three-stage pipeline: clean → encode → fully binary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474720" cy="50292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347472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98448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Stage 1
Initial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• Dropped ID (non-predictive identifier)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• Removed City (redundant with County)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• Addressed missing / null values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• Dataset was largely clean — no major imputation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34747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79" y="1280160"/>
            <a:ext cx="3474720" cy="50292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69079" y="1280160"/>
            <a:ext cx="347472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19" y="1298448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Stage 2
Partial 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01168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• One-hot encoded CrashType (A–G) → 7 columns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• One-hot encoded ViolCat (11 codes) → 11 columns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• Result: 25-column intermediate dataset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• Ordinal integers kept for County, Weekday,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4747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19" y="1280160"/>
            <a:ext cx="3474720" cy="50292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18119" y="1280160"/>
            <a:ext cx="347472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59" y="1298448"/>
            <a:ext cx="3291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Stage 3
Full Binary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01168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• One-hot encoded County, Weekday, Month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• All boolean columns cast to 0/1 integers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• Final dataset: 112,660 rows × 98 columns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• Used as input for ALL five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035040"/>
            <a:ext cx="11521440" cy="50292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0624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Result: 112,660 records  ·  98 fully binary features  ·  ready for all classifiers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Five algorithms across supervised and unsupervised paradigms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2103120" cy="493776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210312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1298448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Decision
Tree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29968"/>
            <a:ext cx="1828799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039112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Supervised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423160"/>
            <a:ext cx="19202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max_depth=6
Balanced weights
Upsampled minority
5-fold 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280160"/>
            <a:ext cx="2103120" cy="493776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06040" y="1280160"/>
            <a:ext cx="210312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9192" y="1298448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Logistic
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029968"/>
            <a:ext cx="1828799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2039112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Supervised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2423160"/>
            <a:ext cx="19202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L-BFGS solver
StandardScaler
Balanced weights
75/25 split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1280160"/>
            <a:ext cx="2103120" cy="493776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92040" y="1280160"/>
            <a:ext cx="210312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65192" y="1298448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Naive
Bayes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2029968"/>
            <a:ext cx="1828799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2039112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Supervised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423160"/>
            <a:ext cx="19202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Bernoulli NB
alpha=1.0 (Laplace)
Equal class priors
No scaling needed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1280160"/>
            <a:ext cx="2103120" cy="493776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78040" y="1280160"/>
            <a:ext cx="210312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51192" y="1298448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KNN
(k=5)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029968"/>
            <a:ext cx="1828799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2039112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Supervised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2423160"/>
            <a:ext cx="19202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Euclidean distance
Distance weighting
StandardScaler
70/30 split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1280160"/>
            <a:ext cx="2103120" cy="493776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64040" y="1280160"/>
            <a:ext cx="2103120" cy="6858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37192" y="1298448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K-Means
(K=3)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2029968"/>
            <a:ext cx="1828799" cy="292608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0" y="2039112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Unsupervised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7" y="2423160"/>
            <a:ext cx="19202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PCA → 10 components
84.3% variance kept
Elbow method
Silhouette: 0.204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0350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04040"/>
                </a:solidFill>
              </a:rPr>
              <a:t>Evaluation metrics: AUC-ROC · F1-Score · Recall (Severe class) · Precision · Overall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Decision Tree — Best Performing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AUC-ROC: 0.838 · F1: 0.853 · Accuracy: 89.1% · 5-Fold CV F1: 0.812 ± 0.034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2743200" cy="1051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27432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1335024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682495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0.838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98448"/>
            <a:ext cx="2743200" cy="1051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298448"/>
            <a:ext cx="27432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1335024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682495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0.853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298448"/>
            <a:ext cx="2743200" cy="1051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298448"/>
            <a:ext cx="27432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5352" y="1335024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1682495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89.1%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298448"/>
            <a:ext cx="2743200" cy="1051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1298448"/>
            <a:ext cx="27432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2" y="1335024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CV F1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1682495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0.812 ± 0.034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57C"/>
                </a:solidFill>
              </a:rPr>
              <a:t>Top Feature Importances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2971800"/>
            <a:ext cx="3903573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30083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Highway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8325" y="3008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0.1423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3410712"/>
            <a:ext cx="3256178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34472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Daylight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0930" y="34472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0.1187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3849624"/>
            <a:ext cx="2444191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" y="3886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ClearWeather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8943" y="3886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0.0891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4288536"/>
            <a:ext cx="2068372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43251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ViolCat_1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3124" y="4325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0.0754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20" y="4727448"/>
            <a:ext cx="1733702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" y="47640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CrashType_A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78454" y="47640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0.0632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7320" y="5166360"/>
            <a:ext cx="1319479" cy="310896"/>
          </a:xfrm>
          <a:prstGeom prst="rect">
            <a:avLst/>
          </a:prstGeom>
          <a:solidFill>
            <a:srgbClr val="70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" y="52029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County_28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4231" y="52029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0.0481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17320" y="5605272"/>
            <a:ext cx="1091793" cy="310896"/>
          </a:xfrm>
          <a:prstGeom prst="rect">
            <a:avLst/>
          </a:prstGeom>
          <a:solidFill>
            <a:srgbClr val="70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7472" y="56418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ViolCat_4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36545" y="5641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0.0398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25146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57C"/>
                </a:solidFill>
              </a:rPr>
              <a:t>Configuration &amp; 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2926080"/>
            <a:ext cx="5806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▸ max_depth=6 to prevent overfitting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min_samples_split=50, min_samples_leaf=25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Balanced class weights + minority upsampling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80/20 stratified train/test split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Highway crashes are the single strongest predictor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Lighting (Daylight) and weather (ClearWeather) follow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Specific violation categories signal elevated risk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Interpretable tree structure supports stakeholder audit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Logistic Regression &amp; Naive Bayes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Both deliver acceptable performance — AUC ~0.75, Recall ~65%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486400" cy="507492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3167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123444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1874519"/>
            <a:ext cx="1234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1911095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258568"/>
            <a:ext cx="1088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0.753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5648" y="1874519"/>
            <a:ext cx="123444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55648" y="1874519"/>
            <a:ext cx="1234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1911095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258568"/>
            <a:ext cx="1088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71%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99816" y="1874519"/>
            <a:ext cx="123444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99816" y="1874519"/>
            <a:ext cx="1234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72968" y="1911095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 (Sev)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2258568"/>
            <a:ext cx="1088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66%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43984" y="1874519"/>
            <a:ext cx="123444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43984" y="1874519"/>
            <a:ext cx="1234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17136" y="1911095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Precision (Sev)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2258568"/>
            <a:ext cx="1088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92608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▸ L-BFGS solver · StandardScaler · balanced class weights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Converged in 13 iterations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Of 1,979 severe crashes → 1,300 correctly identified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Coefficients rank features by severity risk contribution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Useful for policy targeting via coefficient magnitudes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298448"/>
            <a:ext cx="5486400" cy="507492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1298448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13167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Naive Bayes (Bernoulli)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874519"/>
            <a:ext cx="123444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1874519"/>
            <a:ext cx="1234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1911095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2258568"/>
            <a:ext cx="1088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0.745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44968" y="1874519"/>
            <a:ext cx="123444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44968" y="1874519"/>
            <a:ext cx="1234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18120" y="1911095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258568"/>
            <a:ext cx="1088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71%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89136" y="1874519"/>
            <a:ext cx="123444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89136" y="1874519"/>
            <a:ext cx="1234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62288" y="1911095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 (Sev)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2288" y="2258568"/>
            <a:ext cx="1088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64%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33304" y="1874519"/>
            <a:ext cx="123444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433304" y="1874519"/>
            <a:ext cx="1234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06456" y="1911095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Precision (Sev)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06456" y="2258568"/>
            <a:ext cx="1088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14%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92608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▸ Bernoulli NB — natural fit for 98 binary features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Laplace smoothing alpha=1.0; class priors [0.5, 0.5]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No feature scaling required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TP: 1,267  ·  FN: 712  ·  TN: 18,645  ·  FP: 7,541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Log-probability ratio reveals top risk features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1298448"/>
            <a:ext cx="73152" cy="5074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04040"/>
                </a:solidFill>
              </a:rPr>
              <a:t>Both models recover ~65% of severe crashes and are suitable for probability-based risk scoring.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KNN &amp; 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KNN fails under class imbalance · K-Means reveals three crash archetypes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303520" cy="507492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30352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3167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KNN  (k=5)  — Poor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160020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1874519"/>
            <a:ext cx="16002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1911095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258568"/>
            <a:ext cx="1453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</a:rPr>
              <a:t>0.607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1874519"/>
            <a:ext cx="160020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48840" y="1874519"/>
            <a:ext cx="16002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1992" y="1911095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2" y="2258568"/>
            <a:ext cx="1453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78644"/>
                </a:solidFill>
              </a:rPr>
              <a:t>92%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1874519"/>
            <a:ext cx="160020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86200" y="1874519"/>
            <a:ext cx="160020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59352" y="1911095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 (Sev)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9352" y="2258568"/>
            <a:ext cx="1453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</a:rPr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926080"/>
            <a:ext cx="5166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▸ 92% accuracy is entirely driven by majority class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Only 142 of 2,375 severe crashes identified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Root cause: 93/7 imbalance dominates neighborhoods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McNemar test vs LR: p = 2.09 × 10⁻¹⁸⁴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Not recommended in current form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▸ Future fix: SMOTE + threshold calibration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298448"/>
            <a:ext cx="5669280" cy="507492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1298448"/>
            <a:ext cx="5669280" cy="4572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131673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K-Means Clustering (K=3)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8745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04040"/>
                </a:solidFill>
              </a:rPr>
              <a:t>Silhouette Score: 0.204  ·  PCA retained 84.3% variance  ·  Elbow at K=3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377440"/>
            <a:ext cx="5440680" cy="10972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2377440"/>
            <a:ext cx="1371600" cy="10972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269748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Cluster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24688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Lower-severity non-highway crashes.
Clear weather, daytime, moderate violation rate.
Severity: 5.2%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611880"/>
            <a:ext cx="5440680" cy="10972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3611880"/>
            <a:ext cx="137160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91072" y="39319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Cluster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37033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HIGHEST RISK segment.
Highway-dominant, highest violation rate.
Severity: 8.9%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846320"/>
            <a:ext cx="5440680" cy="10972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4846320"/>
            <a:ext cx="1371600" cy="109728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1072" y="5166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Cluster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49377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Surface-street, clear-weather daytime.
Lowest highway %, moderate severity.
Severity: 7.1%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1298448"/>
            <a:ext cx="73152" cy="5074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Decision Tree dominates; KNN unsuitable without imbalance correction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57C"/>
                </a:solidFill>
              </a:rPr>
              <a:t>AUC-ROC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8288" cy="34747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4214469" cy="50292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63109" y="16459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57C"/>
                </a:solidFill>
              </a:rPr>
              <a:t>0.838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3786987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5627" y="242316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0.753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3746754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5394" y="320040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0.745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3052724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01364" y="3977639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0.607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0749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57C"/>
                </a:solidFill>
              </a:rPr>
              <a:t>Full 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40680"/>
            <a:ext cx="2926080" cy="329184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59" y="54772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5440680"/>
            <a:ext cx="1463040" cy="329184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54772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5440680"/>
            <a:ext cx="1463040" cy="329184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54772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5440680"/>
            <a:ext cx="2011680" cy="329184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54772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Recall (Severe)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5440680"/>
            <a:ext cx="1463040" cy="329184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54772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19" y="5440680"/>
            <a:ext cx="1463040" cy="329184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0" y="54772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769864"/>
            <a:ext cx="292608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59" y="5797296"/>
            <a:ext cx="28346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Decision Tree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5769864"/>
            <a:ext cx="146304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0" y="5797296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457C"/>
                </a:solidFill>
              </a:rPr>
              <a:t>0.838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5769864"/>
            <a:ext cx="146304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5797296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89.1%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5769864"/>
            <a:ext cx="201168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5797296"/>
            <a:ext cx="1920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5769864"/>
            <a:ext cx="146304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0" y="5797296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0.853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19" y="5769864"/>
            <a:ext cx="146304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92640" y="5797296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8644"/>
                </a:solidFill>
              </a:rPr>
              <a:t>Good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099048"/>
            <a:ext cx="2926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59" y="6126480"/>
            <a:ext cx="28346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Logistic Regression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6099048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91840" y="6126480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0.753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6099048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54880" y="6126480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71%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6099048"/>
            <a:ext cx="2011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0" y="6126480"/>
            <a:ext cx="1920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66%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79" y="6099048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0" y="6126480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0.820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46919" y="6099048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92640" y="6126480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</a:rPr>
              <a:t>Acceptable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428232"/>
            <a:ext cx="292608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59" y="6455664"/>
            <a:ext cx="28346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Naive Bayes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46120" y="6428232"/>
            <a:ext cx="146304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91840" y="6455664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0.745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6428232"/>
            <a:ext cx="146304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54880" y="6455664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71%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6428232"/>
            <a:ext cx="201168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17920" y="6455664"/>
            <a:ext cx="1920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64%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83879" y="6428232"/>
            <a:ext cx="146304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0" y="6455664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0.820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46919" y="6428232"/>
            <a:ext cx="146304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92640" y="6455664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</a:rPr>
              <a:t>Acceptable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6757416"/>
            <a:ext cx="2926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5759" y="6784848"/>
            <a:ext cx="28346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KNN (k=5)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46120" y="6757416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91840" y="6784848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CE4D6"/>
                </a:solidFill>
              </a:rPr>
              <a:t>0.607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6757416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54880" y="6784848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92%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6757416"/>
            <a:ext cx="2011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17920" y="6784848"/>
            <a:ext cx="19202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83879" y="6757416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29600" y="6784848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0.090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46919" y="6757416"/>
            <a:ext cx="1463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92640" y="6784848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Poor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0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57C"/>
                </a:solidFill>
              </a:rPr>
              <a:t>Decision Tree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0" y="1984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Recall: High   F1: 0.853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3600" y="2404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Logistic Regression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0" y="276148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Recall: 66%   F1: 0.82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0" y="3182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Naive Bayes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600" y="3538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Recall: 64%   F1: 0.82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3959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KNN (k=5)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3600" y="4315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Recall: 6%   F1: 0.09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Returning to our three core business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794760" cy="507492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3794760" cy="5943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1344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DD7EE"/>
                </a:solidFill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13898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predicts severe crashes?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✓ Highway crashes are the #1 predictor (importance: 0.142)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✓ Nighttime crashes (Daylight=0) strongly elevate risk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✓ Adverse weather and specific violation categories signal severity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✓ Both Decision Tree and Logistic Regression agree on top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325880"/>
            <a:ext cx="3794760" cy="507492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79" y="1325880"/>
            <a:ext cx="3794760" cy="5943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1" y="1344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DD7EE"/>
                </a:solidFill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7" y="13898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Are there distinct risk profiles?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✓ K-Means found 3 natural archetypes (Silhouette = 0.204)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✓ Cluster 1: highway + high violation rate → 8.9% severity (highest)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✓ Cluster 0: non-highway, clear, daytime → 5.2% severity (lowest)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✓ Profiles enable tailored interventions, not one-size-fits-all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325880"/>
            <a:ext cx="3794760" cy="507492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5319" y="1325880"/>
            <a:ext cx="3794760" cy="5943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1" y="1344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DD7EE"/>
                </a:solidFill>
              </a:rP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13898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How reliable is the prediction?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</a:rPr>
              <a:t>✓ Decision Tree AUC-ROC = 0.838 — solid real-world performance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✓ ~12–15% of severe crashes still missed (inherent data ceiling)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✓ Far exceeds random chance (AUC = 0.50)</a:t>
            </a:r>
          </a:p>
          <a:p>
            <a:pPr algn="l"/>
            <a:r>
              <a:rPr sz="1200">
                <a:solidFill>
                  <a:srgbClr val="404040"/>
                </a:solidFill>
              </a:rPr>
              <a:t>✓ Sufficient for meaningful risk triage and dispatch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Four actionable steps for traffic safety 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11521440" cy="1143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6400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1645919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Deploy Decision Tree as Real-Time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01368"/>
            <a:ext cx="10652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Integrate the Decision Tree into emergency dispatch or accident reporting systems. Flag likely-severe crashes in real time based on road type, lighting, and violation category. AUC-ROC of 0.838 provides meaningful risk differentiation.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87752"/>
            <a:ext cx="11521440" cy="1143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587752"/>
            <a:ext cx="64008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907792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679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Use Logistic Regression for Policy Targeting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63240"/>
            <a:ext cx="10652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Coefficient magnitudes directly quantify each feature's marginal contribution to severity risk. Features with the largest positive coefficients should anchor enforcement campaigns, driver education programs, and infrastructure investments.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49624"/>
            <a:ext cx="11521440" cy="1143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849624"/>
            <a:ext cx="640080" cy="11430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4169663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4106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44"/>
                </a:solidFill>
              </a:rPr>
              <a:t>Design Cluster-Specific Prevention Programs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25112"/>
            <a:ext cx="10652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The three K-Means archetypes carry distinct risk signatures. Cluster 1 (highway + high violation) requires targeted highway patrol. Cluster 0 warrants different countermeasures. Tailored programs outperform uniform interventions.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111496"/>
            <a:ext cx="11521440" cy="1143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5111496"/>
            <a:ext cx="640080" cy="1143000"/>
          </a:xfrm>
          <a:prstGeom prst="rect">
            <a:avLst/>
          </a:prstGeom>
          <a:solidFill>
            <a:srgbClr val="D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5431536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2029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06000"/>
                </a:solidFill>
              </a:rPr>
              <a:t>Address Class Imbalance in Future Iterations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86983"/>
            <a:ext cx="10652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All classifiers were challenged by the 93/7 split. Future work should explore SMOTE oversampling and decision-threshold calibration. Ensemble methods (Random Forest, Gradient Boosting) may also significantly improve severe-class recall.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Where we are and where to go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Predicting Car Crash Severity  |  Data Mining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04040"/>
                </a:solidFill>
              </a:rPr>
              <a:t>▸ 93/7 class imbalance limits all classifiers, especially KNN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Binary encoding discards within-county geographic nuance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No continuous features (speed, age, BAC) available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Dataset is historical — real-time deployment requires retraining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KNN infeasible at scale without dimensionality reduction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Silhouette score of 0.204 indicates soft cluster boundaries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325880"/>
            <a:ext cx="54864" cy="4846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44"/>
                </a:solidFill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7830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04040"/>
                </a:solidFill>
              </a:rPr>
              <a:t>▸ SMOTE oversampling + decision-threshold calibration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Ensemble methods: Random Forest, Gradient Boosting (XGBoost)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Add continuous features: speed limit, driver age, road condition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Geospatial clustering to replace county-level encoding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Online learning pipeline for real-time severity scoring</a:t>
            </a:r>
          </a:p>
          <a:p>
            <a:pPr algn="l"/>
            <a:r>
              <a:rPr sz="1300">
                <a:solidFill>
                  <a:srgbClr val="404040"/>
                </a:solidFill>
              </a:rPr>
              <a:t>▸ Explainability layer (SHAP values) for dispatch tool trust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BDD7EE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725912" cy="2377440"/>
          </a:xfrm>
          <a:prstGeom prst="rect">
            <a:avLst/>
          </a:prstGeom>
          <a:solidFill>
            <a:srgbClr val="16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BDD7EE"/>
                </a:solidFill>
              </a:rPr>
              <a:t>  ◆  Dataset: 112,660 California crash records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  ◆  Best model: Decision Tree  (AUC 0.838, F1 0.853)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  ◆  Key predictors: Highway · Daylight · ClearWeather · ViolCat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  ◆  3 crash risk archetypes identified via K-Means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  ◆  Crash severity IS predictable — ready for real-world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Keaton Kaess  ·  Tyler Wolf Williams  ·  Sahil Bains  ·  Will Doran  ·  Alex Piavis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A0C0"/>
                </a:solidFill>
              </a:rPr>
              <a:t>Data Mining  ·  Dr. Leida Chen  ·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2034</Words>
  <Application>Microsoft Office PowerPoint</Application>
  <PresentationFormat>Custom</PresentationFormat>
  <Paragraphs>354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 Wolf Williams</cp:lastModifiedBy>
  <cp:revision>2</cp:revision>
  <dcterms:created xsi:type="dcterms:W3CDTF">2013-01-27T09:14:16Z</dcterms:created>
  <dcterms:modified xsi:type="dcterms:W3CDTF">2026-03-12T23:46:30Z</dcterms:modified>
  <cp:category/>
</cp:coreProperties>
</file>